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2000" b="1">
                <a:solidFill>
                  <a:srgbClr val="1F497D"/>
                </a:solidFill>
                <a:latin typeface="Arial"/>
              </a:rPr>
              <a:t>RoadTwin — a what-if lab for Indian roads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Problem Statement ID – </a:t>
            </a:r>
            <a:r>
              <a:rPr sz="1300" b="0">
                <a:solidFill>
                  <a:srgbClr val="1A1A1A"/>
                </a:solidFill>
                <a:latin typeface="Arial"/>
              </a:rPr>
              <a:t>SIH25100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Problem Statement Title – </a:t>
            </a:r>
            <a:r>
              <a:rPr sz="1300" b="0">
                <a:solidFill>
                  <a:srgbClr val="1A1A1A"/>
                </a:solidFill>
                <a:latin typeface="Arial"/>
              </a:rPr>
              <a:t>Accelerating High-Fidelity Road Network Modeling for Indian Traffic Simulations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Theme – </a:t>
            </a:r>
            <a:r>
              <a:rPr sz="1300" b="0">
                <a:solidFill>
                  <a:srgbClr val="1A1A1A"/>
                </a:solidFill>
                <a:latin typeface="Arial"/>
              </a:rPr>
              <a:t>Transportation &amp; Logistics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PS Category – </a:t>
            </a:r>
            <a:r>
              <a:rPr sz="1300" b="0">
                <a:solidFill>
                  <a:srgbClr val="1A1A1A"/>
                </a:solidFill>
                <a:latin typeface="Arial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Team ID – </a:t>
            </a:r>
            <a:r>
              <a:rPr sz="1300" b="0">
                <a:solidFill>
                  <a:srgbClr val="1A1A1A"/>
                </a:solidFill>
                <a:latin typeface="Arial"/>
              </a:rPr>
              <a:t>«TEAM ID»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Team Name (Registered on portal) – </a:t>
            </a:r>
            <a:r>
              <a:rPr sz="1300" b="0">
                <a:solidFill>
                  <a:srgbClr val="1A1A1A"/>
                </a:solidFill>
                <a:latin typeface="Arial"/>
              </a:rPr>
              <a:t>«TEAM NAME»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400" b="1">
                <a:solidFill>
                  <a:srgbClr val="1F497D"/>
                </a:solidFill>
              </a:rPr>
              <a:t>RoadTwin — a what-if lab for Indian roads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«TEAM NAME»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9184" y="1060704"/>
            <a:ext cx="11475720" cy="56692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Turn any Indian road area into a simulation-ready digital twin in seconds — then test a road change in the model before it is built in the real world.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29184" y="173736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9AA8"/>
                </a:solidFill>
                <a:latin typeface="Arial"/>
              </a:rPr>
              <a:t>USER FLOW  —  under 2 minutes end to end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29184" y="201168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1. Pick area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Koramangala,
Bengaluru</a:t>
            </a:r>
          </a:p>
        </p:txBody>
      </p:sp>
      <p:sp>
        <p:nvSpPr>
          <p:cNvPr id="15365" name="Right Arrow 15364"/>
          <p:cNvSpPr/>
          <p:nvPr/>
        </p:nvSpPr>
        <p:spPr>
          <a:xfrm>
            <a:off x="2093975" y="2450592"/>
            <a:ext cx="173736" cy="14630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2276856" y="201168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2. Generate twin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1,010 junctions
in ~0.1 s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4041648" y="2450592"/>
            <a:ext cx="173736" cy="14630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4224528" y="201168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3. Run baseline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How the road
behaves today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5989320" y="2450592"/>
            <a:ext cx="173736" cy="14630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6172200" y="201168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4. Ask “what if”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Plain English →
validated scenario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7936992" y="2450592"/>
            <a:ext cx="173736" cy="14630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8119872" y="201168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5. Simulate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Mixed Indian
traffic in SUMO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9884664" y="2450592"/>
            <a:ext cx="173736" cy="146304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10067544" y="2011680"/>
            <a:ext cx="1755648" cy="1024128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6. Compare &amp; decide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Evidence before
intervention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29184" y="3218688"/>
            <a:ext cx="3758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2E9AA8"/>
                </a:solidFill>
                <a:latin typeface="Arial"/>
              </a:rPr>
              <a:t>WHO IT IS FOR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City traffic police &amp; control rooms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Urban local bodies and city planners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Transport consultants &amp; DPR teams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Transportation researchers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187952" y="3218688"/>
            <a:ext cx="3758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F81BD"/>
                </a:solidFill>
                <a:latin typeface="Arial"/>
              </a:rPr>
              <a:t>WHAT IT DOES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Builds a high-fidelity road model from OpenStreetMap automatically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Simulates heterogeneous Indian traffic — 2-wheelers, autos, buses, trucks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Runs what-if scenarios and measures the difference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8046720" y="3218688"/>
            <a:ext cx="3758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E88A1F"/>
                </a:solidFill>
                <a:latin typeface="Arial"/>
              </a:rPr>
              <a:t>HOW IT HELPS THE USER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Answers “will this change actually help?” with numbers, not opinion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Days of manual network modelling → seconds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Test lane closures, signal plans and demand growth with zero road risk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29184" y="4901184"/>
            <a:ext cx="11475720" cy="12984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INNOVATION &amp; UNIQUENESS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Sublane physics: a 0.75 m motorcycle shares a lane and filters through queues — lane-based models cannot represent this and over-predict congestion on Indian roads.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Effective capacity, not nominal: kerbside parking, vendors and encroachment remove ~33% of the capacity OSM implies. We model that per segment.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AI never runs the simulation — it only writes a scenario that is schema-validated before SUMO sees it. Congestion causes are computed from simulation state, not narrated by a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F497D"/>
                </a:solidFill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«TEAM NAME»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24128"/>
            <a:ext cx="7315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9AA8"/>
                </a:solidFill>
                <a:latin typeface="Arial"/>
              </a:rPr>
              <a:t>AUTOMATED PIPELINE  —  location in, decision out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E9AA8"/>
                </a:solidFill>
                <a:latin typeface="Arial"/>
              </a:rPr>
              <a:t>Study area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map bbox</a:t>
            </a:r>
          </a:p>
        </p:txBody>
      </p:sp>
      <p:sp>
        <p:nvSpPr>
          <p:cNvPr id="17412" name="Right Arrow 17411"/>
          <p:cNvSpPr/>
          <p:nvPr/>
        </p:nvSpPr>
        <p:spPr>
          <a:xfrm>
            <a:off x="1824227" y="1755648"/>
            <a:ext cx="155448" cy="137160"/>
          </a:xfrm>
          <a:prstGeom prst="rightArrow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1988819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E9AA8"/>
                </a:solidFill>
                <a:latin typeface="Arial"/>
              </a:rPr>
              <a:t>OpenStreetMap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Overpass API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3483863" y="1755648"/>
            <a:ext cx="155448" cy="137160"/>
          </a:xfrm>
          <a:prstGeom prst="rightArrow">
            <a:avLst/>
          </a:prstGeom>
          <a:solidFill>
            <a:srgbClr val="2E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648456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F81BD"/>
                </a:solidFill>
                <a:latin typeface="Arial"/>
              </a:rPr>
              <a:t>netconvert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left-hand traffic,
junction joining,
turn lanes, signals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5143499" y="1755648"/>
            <a:ext cx="155448" cy="137160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5308091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F81BD"/>
                </a:solidFill>
                <a:latin typeface="Arial"/>
              </a:rPr>
              <a:t>RoadNetwork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typed contract
(the frozen schema)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6803135" y="1755648"/>
            <a:ext cx="155448" cy="137160"/>
          </a:xfrm>
          <a:prstGeom prst="rightArrow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6967727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E88A1F"/>
                </a:solidFill>
                <a:latin typeface="Arial"/>
              </a:rPr>
              <a:t>Indian enrichment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effective lanes,
encroachment, PCU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8462772" y="1755648"/>
            <a:ext cx="155448" cy="137160"/>
          </a:xfrm>
          <a:prstGeom prst="rightArrow">
            <a:avLst/>
          </a:prstGeom>
          <a:solidFill>
            <a:srgbClr val="E8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8627363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SUMO + TraCI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sublane mixed traffic,
signal control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10122407" y="1755648"/>
            <a:ext cx="155448" cy="13716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10286999" y="1298448"/>
            <a:ext cx="1490472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3B8E4E"/>
                </a:solidFill>
                <a:latin typeface="Arial"/>
              </a:rPr>
              <a:t>Results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5A5A5A"/>
                </a:solidFill>
                <a:latin typeface="Arial"/>
              </a:rPr>
              <a:t>metrics, bottlenecks,
comparison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29184" y="2542032"/>
            <a:ext cx="562356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F81BD"/>
                </a:solidFill>
                <a:latin typeface="Arial"/>
              </a:rPr>
              <a:t>TECHNOLOGY STACK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Simulation: Eclipse SUMO 1.27 + TraCI (live control)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Backend: Python 3.13, FastAPI, pydantic contracts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Geodata: OpenStreetMap / Overpass, netconvert, sumolib, pyproj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Frontend: Next.js 16, React 19, MapLibre GL, Recharts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Scale-out: process-pool workers, one SUMO per core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29184" y="4114800"/>
            <a:ext cx="5623560" cy="208483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WHY IT IS FAST ENOUGH TO EXPERIMENT WITH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We do not rebuild traffic physics. SUMO and netconvert carry decades of junction and car-following work; we build the automation and intelligence layer on top.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Aggregate metrics come from SUMO's native outputs; TraCI is reserved for dynamic events and playback via subscriptions — roughly 200× real time.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Scenarios run in parallel across worker processes: 6 scenarios in 8.1 s versus 34.0 s serially (4.2× measured).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144768" y="2542032"/>
            <a:ext cx="56692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E9AA8"/>
                </a:solidFill>
                <a:latin typeface="Arial"/>
              </a:rPr>
              <a:t>WORKING PROTOTYPE  —  live congestion heat-map and vehicle playback</a:t>
            </a:r>
          </a:p>
        </p:txBody>
      </p:sp>
      <p:pic>
        <p:nvPicPr>
          <p:cNvPr id="17427" name="Picture 17426" descr="02_scenario_vs_bas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798064"/>
            <a:ext cx="5660136" cy="3360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F497D"/>
                </a:solidFill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«TEAM NAME»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24128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B8E4E"/>
                </a:solidFill>
                <a:latin typeface="Arial"/>
              </a:rPr>
              <a:t>ALREADY BUILT AND MEASURED — not a concept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298448"/>
            <a:ext cx="2798064" cy="93268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1,010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D9E2F3"/>
                </a:solidFill>
                <a:latin typeface="Arial"/>
              </a:rPr>
              <a:t>junctions reconstructed
Koramangala, Bengaluru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46120" y="1298448"/>
            <a:ext cx="2798064" cy="93268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~0.1 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D9E2F3"/>
                </a:solidFill>
                <a:latin typeface="Arial"/>
              </a:rPr>
              <a:t>to generate the twin
(vs ~537 h manual estimate)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63056" y="1298448"/>
            <a:ext cx="2798064" cy="93268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46–200×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D9E2F3"/>
                </a:solidFill>
                <a:latin typeface="Arial"/>
              </a:rPr>
              <a:t>faster than real time
per simulation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79992" y="1298448"/>
            <a:ext cx="2798064" cy="93268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D9E2F3"/>
                </a:solidFill>
                <a:latin typeface="Arial"/>
              </a:rPr>
              <a:t>Indian city areas
pre-built and cached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29184" y="2395728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RISKS AND HOW WE HANDLE THEM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2670048"/>
            <a:ext cx="4956048" cy="676656"/>
          </a:xfrm>
          <a:prstGeom prst="roundRect">
            <a:avLst>
              <a:gd name="adj" fmla="val 8000"/>
            </a:avLst>
          </a:prstGeom>
          <a:solidFill>
            <a:srgbClr val="FDF2F1"/>
          </a:solidFill>
          <a:ln w="12700">
            <a:solidFill>
              <a:srgbClr val="B5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53A35"/>
                </a:solidFill>
                <a:latin typeface="Arial"/>
              </a:rPr>
              <a:t>OSM data is incomplete or mis-tagged for Indian roads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413248" y="2670048"/>
            <a:ext cx="6391656" cy="676656"/>
          </a:xfrm>
          <a:prstGeom prst="roundRect">
            <a:avLst>
              <a:gd name="adj" fmla="val 8000"/>
            </a:avLst>
          </a:prstGeom>
          <a:solidFill>
            <a:srgbClr val="F1F8F2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netconvert infers junctions and turn lanes; our enrichment layer supplies lane, capacity and encroachment defaults per road class. Every value is a visible, tunable assumption — not a hidden constant.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5175504" y="2935224"/>
            <a:ext cx="182880" cy="146304"/>
          </a:xfrm>
          <a:prstGeom prst="rightArrow">
            <a:avLst/>
          </a:prstGeom>
          <a:solidFill>
            <a:srgbClr val="3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329184" y="3401568"/>
            <a:ext cx="4956048" cy="676656"/>
          </a:xfrm>
          <a:prstGeom prst="roundRect">
            <a:avLst>
              <a:gd name="adj" fmla="val 8000"/>
            </a:avLst>
          </a:prstGeom>
          <a:solidFill>
            <a:srgbClr val="FDF2F1"/>
          </a:solidFill>
          <a:ln w="12700">
            <a:solidFill>
              <a:srgbClr val="B5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53A35"/>
                </a:solidFill>
                <a:latin typeface="Arial"/>
              </a:rPr>
              <a:t>A model that assumes disciplined lane-following is simply wrong here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413248" y="3401568"/>
            <a:ext cx="6391656" cy="676656"/>
          </a:xfrm>
          <a:prstGeom prst="roundRect">
            <a:avLst>
              <a:gd name="adj" fmla="val 8000"/>
            </a:avLst>
          </a:prstGeom>
          <a:solidFill>
            <a:srgbClr val="F1F8F2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SUMO's sublane model plus a calibrated six-class fleet reproduces filtering and lateral weaving. A single lane-discipline control moves the whole fleet between orderly and Indian behaviour.</a:t>
            </a:r>
          </a:p>
        </p:txBody>
      </p:sp>
      <p:sp>
        <p:nvSpPr>
          <p:cNvPr id="17421" name="Right Arrow 17420"/>
          <p:cNvSpPr/>
          <p:nvPr/>
        </p:nvSpPr>
        <p:spPr>
          <a:xfrm>
            <a:off x="5175504" y="3666744"/>
            <a:ext cx="182880" cy="146304"/>
          </a:xfrm>
          <a:prstGeom prst="rightArrow">
            <a:avLst/>
          </a:prstGeom>
          <a:solidFill>
            <a:srgbClr val="3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ounded Rectangle 17421"/>
          <p:cNvSpPr/>
          <p:nvPr/>
        </p:nvSpPr>
        <p:spPr>
          <a:xfrm>
            <a:off x="329184" y="4133087"/>
            <a:ext cx="4956048" cy="676656"/>
          </a:xfrm>
          <a:prstGeom prst="roundRect">
            <a:avLst>
              <a:gd name="adj" fmla="val 8000"/>
            </a:avLst>
          </a:prstGeom>
          <a:solidFill>
            <a:srgbClr val="FDF2F1"/>
          </a:solidFill>
          <a:ln w="12700">
            <a:solidFill>
              <a:srgbClr val="B5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53A35"/>
                </a:solidFill>
                <a:latin typeface="Arial"/>
              </a:rPr>
              <a:t>Simulation is too slow to explore many options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413248" y="4133087"/>
            <a:ext cx="6391656" cy="676656"/>
          </a:xfrm>
          <a:prstGeom prst="roundRect">
            <a:avLst>
              <a:gd name="adj" fmla="val 8000"/>
            </a:avLst>
          </a:prstGeom>
          <a:solidFill>
            <a:srgbClr val="F1F8F2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Native SUMO outputs for metrics, TraCI only for control, and parallel execution across cores. A 10-minute scenario returns in under 10 seconds.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5175504" y="4398264"/>
            <a:ext cx="182880" cy="146304"/>
          </a:xfrm>
          <a:prstGeom prst="rightArrow">
            <a:avLst/>
          </a:prstGeom>
          <a:solidFill>
            <a:srgbClr val="3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329184" y="4864607"/>
            <a:ext cx="4956048" cy="676656"/>
          </a:xfrm>
          <a:prstGeom prst="roundRect">
            <a:avLst>
              <a:gd name="adj" fmla="val 8000"/>
            </a:avLst>
          </a:prstGeom>
          <a:solidFill>
            <a:srgbClr val="FDF2F1"/>
          </a:solidFill>
          <a:ln w="12700">
            <a:solidFill>
              <a:srgbClr val="B5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53A35"/>
                </a:solidFill>
                <a:latin typeface="Arial"/>
              </a:rPr>
              <a:t>Live dependence on external services during a demo or deployment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413248" y="4864607"/>
            <a:ext cx="6391656" cy="676656"/>
          </a:xfrm>
          <a:prstGeom prst="roundRect">
            <a:avLst>
              <a:gd name="adj" fmla="val 8000"/>
            </a:avLst>
          </a:prstGeom>
          <a:solidFill>
            <a:srgbClr val="F1F8F2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Every city network is cached on disk after first build; the natural-language layer is deterministic and needs no API key, so nothing critical depends on a network call.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5175504" y="5129783"/>
            <a:ext cx="182880" cy="146304"/>
          </a:xfrm>
          <a:prstGeom prst="rightArrow">
            <a:avLst/>
          </a:prstGeom>
          <a:solidFill>
            <a:srgbClr val="3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329184" y="5596127"/>
            <a:ext cx="4956048" cy="676656"/>
          </a:xfrm>
          <a:prstGeom prst="roundRect">
            <a:avLst>
              <a:gd name="adj" fmla="val 8000"/>
            </a:avLst>
          </a:prstGeom>
          <a:solidFill>
            <a:srgbClr val="FDF2F1"/>
          </a:solidFill>
          <a:ln w="12700">
            <a:solidFill>
              <a:srgbClr val="B5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B53A35"/>
                </a:solidFill>
                <a:latin typeface="Arial"/>
              </a:rPr>
              <a:t>Results could be mistaken for ground truth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413248" y="5596127"/>
            <a:ext cx="6391656" cy="676656"/>
          </a:xfrm>
          <a:prstGeom prst="roundRect">
            <a:avLst>
              <a:gd name="adj" fmla="val 8000"/>
            </a:avLst>
          </a:prstGeom>
          <a:solidFill>
            <a:srgbClr val="F1F8F2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Assumptions are stated on screen, SUMO teleports (gridlock events) are reported rather than hidden, and causes are attributed from simulation state so any number can be traced back.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5175504" y="5861303"/>
            <a:ext cx="182880" cy="146304"/>
          </a:xfrm>
          <a:prstGeom prst="rightArrow">
            <a:avLst/>
          </a:prstGeom>
          <a:solidFill>
            <a:srgbClr val="3B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F497D"/>
                </a:solidFill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«TEAM NAME»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9184" y="1005840"/>
            <a:ext cx="54864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9AA8"/>
                </a:solidFill>
                <a:latin typeface="Arial"/>
              </a:rPr>
              <a:t>MEASURED ON THE REAL NETWORK — Koramangala, 10-minute horizon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280160"/>
            <a:ext cx="5623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53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B53A35"/>
                </a:solidFill>
                <a:latin typeface="Arial"/>
              </a:rPr>
              <a:t>1 · THE PROBLEM IS DETECTED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Peak demand +40% on today's road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  <a:latin typeface="Arial"/>
              </a:rPr>
              <a:t>Average speed:  </a:t>
            </a:r>
            <a:r>
              <a:rPr sz="900" b="1">
                <a:solidFill>
                  <a:srgbClr val="B53A35"/>
                </a:solidFill>
                <a:latin typeface="Arial"/>
              </a:rPr>
              <a:t>37.9 km/h  →  35.9 km/h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  <a:latin typeface="Arial"/>
              </a:rPr>
              <a:t>Average delay:  </a:t>
            </a:r>
            <a:r>
              <a:rPr sz="900" b="1">
                <a:solidFill>
                  <a:srgbClr val="B53A35"/>
                </a:solidFill>
                <a:latin typeface="Arial"/>
              </a:rPr>
              <a:t>59.5 s  →  67.6 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  <a:latin typeface="Arial"/>
              </a:rPr>
              <a:t>Vehicles gridlocked (teleports):  </a:t>
            </a:r>
            <a:r>
              <a:rPr sz="900" b="1">
                <a:solidFill>
                  <a:srgbClr val="B53A35"/>
                </a:solidFill>
                <a:latin typeface="Arial"/>
              </a:rPr>
              <a:t>0  →  9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81344" y="1280160"/>
            <a:ext cx="56235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B8E4E"/>
                </a:solidFill>
                <a:latin typeface="Arial"/>
              </a:rPr>
              <a:t>2 · AN INTERVENTION IS PROVEN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Same +40% demand, smarter signal control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  <a:latin typeface="Arial"/>
              </a:rPr>
              <a:t>Average delay:  </a:t>
            </a:r>
            <a:r>
              <a:rPr sz="900" b="1">
                <a:solidFill>
                  <a:srgbClr val="3B8E4E"/>
                </a:solidFill>
                <a:latin typeface="Arial"/>
              </a:rPr>
              <a:t>67.6 s  →  58.4 s  (−13.6%)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  <a:latin typeface="Arial"/>
              </a:rPr>
              <a:t>Vehicles served:  </a:t>
            </a:r>
            <a:r>
              <a:rPr sz="900" b="1">
                <a:solidFill>
                  <a:srgbClr val="3B8E4E"/>
                </a:solidFill>
                <a:latin typeface="Arial"/>
              </a:rPr>
              <a:t>538  →  559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  <a:latin typeface="Arial"/>
              </a:rPr>
              <a:t>Average speed:  </a:t>
            </a:r>
            <a:r>
              <a:rPr sz="900" b="1">
                <a:solidFill>
                  <a:srgbClr val="3B8E4E"/>
                </a:solidFill>
                <a:latin typeface="Arial"/>
              </a:rPr>
              <a:t>35.9 km/h  →  37.6 km/h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2926080"/>
            <a:ext cx="11475720" cy="475488"/>
          </a:xfrm>
          <a:prstGeom prst="roundRect">
            <a:avLst>
              <a:gd name="adj" fmla="val 8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The city can see the congestion coming and confirm the fix works — before spending money or closing a road.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9184" y="3529584"/>
            <a:ext cx="279806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2E9AA8"/>
                </a:solidFill>
                <a:latin typeface="Arial"/>
              </a:rPr>
              <a:t>TRAFFIC POLICE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Retime a junction and see the delay it saves before issuing the order.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46120" y="3529584"/>
            <a:ext cx="279806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4F81BD"/>
                </a:solidFill>
                <a:latin typeface="Arial"/>
              </a:rPr>
              <a:t>CITY PLANNERS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Justify a lane, bus lane or one-way change with simulated evidence in a DPR.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63056" y="3529584"/>
            <a:ext cx="279806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8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E88A1F"/>
                </a:solidFill>
                <a:latin typeface="Arial"/>
              </a:rPr>
              <a:t>CITIZENS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Shorter journeys and fewer failed road experiments carried out on live traffic.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9079992" y="3529584"/>
            <a:ext cx="2798064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B8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3B8E4E"/>
                </a:solidFill>
                <a:latin typeface="Arial"/>
              </a:rPr>
              <a:t>ENVIRONMENT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Idling time, fuel burn and CO₂ are reported per scenario, so lower-emission options can be chosen.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4828032"/>
            <a:ext cx="11475720" cy="12984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WIDER IMPACT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Economic: road interventions are tested in software first, so failed experiments are not paid for in concrete, contractor time and public disruption.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Social: the same evidence base is available to a ward engineer as to a large consultancy, because building the model no longer takes weeks of specialist effort.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▪  Scalable: any Indian city area can be modelled from open data — no survey, no proprietary dataset and no per-city licence.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1F497D"/>
                </a:solidFill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800" b="1">
                <a:latin typeface="Arial"/>
              </a:rPr>
              <a:t>«TEAM NAME»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88720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Eclipse SUMO — microscopic traffic simulator (EPL-2.0)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https://eclipse.dev/sumo/  ·  used as an unmodified upstream dependency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2340864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TraCI — Traffic Control Interface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https://sumo.dlr.de/docs/TraCI.html  ·  live control of a running simulation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3493008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SUMO sublane model — lateral dynamics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https://sumo.dlr.de/docs/Simulation/SublaneModel.html  ·  basis of our filtering behaviour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9184" y="4645152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netconvert — network import from OSM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https://sumo.dlr.de/docs/netconvert.html  ·  junction joining, turn lanes, signal synthesis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81344" y="1188720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OpenStreetMap / Overpass API (ODbL)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https://www.openstreetmap.org  ·  https://overpass-api.de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81344" y="2340864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IRC:106 — Guidelines for Capacity of Urban Roads in Plain Areas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Indian Roads Congress · PCU factors and lane capacity used in our enrichment layer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81344" y="3493008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Varaiya, P. — “Max pressure control of a network of signalized intersections”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Transportation Research Part C, 2013 · basis of our max-pressure controller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81344" y="4645152"/>
            <a:ext cx="5623560" cy="10424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F497D"/>
                </a:solidFill>
                <a:latin typeface="Arial"/>
              </a:rPr>
              <a:t>Project source code — RoadTwin</a:t>
            </a:r>
          </a:p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https://github.com/Akshatb2006/RoadTwin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9184" y="5797296"/>
            <a:ext cx="11475720" cy="420624"/>
          </a:xfrm>
          <a:prstGeom prst="roundRect">
            <a:avLst>
              <a:gd name="adj" fmla="val 8000"/>
            </a:avLst>
          </a:prstGeom>
          <a:solidFill>
            <a:srgbClr val="EFF3F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All third-party components are open source and used within their licences; OSM-derived networks carry ODbL obligations.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